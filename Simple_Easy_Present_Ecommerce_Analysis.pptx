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463040"/>
            <a:ext cx="8869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563EB"/>
                </a:solidFill>
              </a:defRPr>
            </a:pPr>
            <a:r>
              <a:t>PROJECT PRESENTATION • DATA ANALYTICS</a:t>
            </a:r>
          </a:p>
          <a:p>
            <a:pPr>
              <a:spcAft>
                <a:spcPts val="1400"/>
              </a:spcAft>
              <a:defRPr sz="3600" b="1">
                <a:solidFill>
                  <a:srgbClr val="0F172A"/>
                </a:solidFill>
              </a:defRPr>
            </a:pPr>
            <a:r>
              <a:t>E-Commerce Sales, Returns &amp;</a:t>
            </a:r>
            <a:br/>
            <a:r>
              <a:t>Customer Behaviour Analysis</a:t>
            </a:r>
          </a:p>
          <a:p>
            <a:pPr>
              <a:spcAft>
                <a:spcPts val="2400"/>
              </a:spcAft>
              <a:defRPr sz="1600">
                <a:solidFill>
                  <a:srgbClr val="475569"/>
                </a:solidFill>
              </a:defRPr>
            </a:pPr>
            <a:r>
              <a:t>Understanding What Sells, Who Buys, and Why Products Get Returned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Dataset: Kaggle E-Commerce Orders &amp; Returns  •  Tools: Python, Pandas,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2 OF 10  •  E-COMMERCE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Project Overview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What is this project about and why does it matter?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2563EB"/>
                </a:solidFill>
              </a:defRPr>
            </a:pPr>
            <a:r>
              <a:t>The Business Problem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The e-commerce company makes strong sales, but product returns are eating away its profits. High gross revenue looks great, but high return rates cause severe revenue loss and extra courier costs.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4747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82880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E11D48"/>
                </a:solidFill>
              </a:defRPr>
            </a:pPr>
            <a:r>
              <a:t>Why It Matters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Returns cost money. If 22% of orders are returned, the company wastes delivery costs, restocking fees, and loses customer trust. We need to find the root causes to protect profit margins.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645920"/>
            <a:ext cx="34747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4" y="182880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0B981"/>
                </a:solidFill>
              </a:defRPr>
            </a:pPr>
            <a:r>
              <a:t>Our Core Objectives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1. Clean and validate 5,000 transaction records</a:t>
            </a:r>
            <a:br/>
            <a:r>
              <a:t>2. Track sales performance and monthly trends</a:t>
            </a:r>
            <a:br/>
            <a:r>
              <a:t>3. Study customer loyalty and buying habits</a:t>
            </a:r>
            <a:br/>
            <a:r>
              <a:t>4. Uncover the real reasons why items get returned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77900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🗣️ What to Say: </a:t>
            </a:r>
            <a:r>
              <a:rPr sz="1100" b="0">
                <a:solidFill>
                  <a:srgbClr val="0F172A"/>
                </a:solidFill>
              </a:rPr>
              <a:t>"Good morning everyone. In this project, we analyzed an e-commerce platform to understand where the company makes its revenue and where it loses money due to customer returns."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3 OF 10  •  E-COMMERCE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Dataset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Understanding the order, customer, and return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5,000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Total Transactions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Covering 15 months of orders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603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7373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C3AED"/>
                </a:solidFill>
              </a:defRPr>
            </a:pPr>
            <a:r>
              <a:t>811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Unique Customers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Across 20 Indian cities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45920"/>
            <a:ext cx="25603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7373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97706"/>
                </a:solidFill>
              </a:defRPr>
            </a:pPr>
            <a:r>
              <a:t>31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Columns / Features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Orders, customers, returns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645920"/>
            <a:ext cx="25603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17373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100%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Data Cleaned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0 duplicates, valid dates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91840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47472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How We Prepared and Cleaned the Data:</a:t>
            </a:r>
          </a:p>
          <a:p>
            <a:pPr>
              <a:spcAft>
                <a:spcPts val="300"/>
              </a:spcAft>
              <a:defRPr sz="1200">
                <a:solidFill>
                  <a:srgbClr val="0F172A"/>
                </a:solidFill>
              </a:defRPr>
            </a:pPr>
            <a:r>
              <a:t>•  Date Validation: Formatted Order Date and Return Date; calculated exact delivery and return turnaround times.</a:t>
            </a:r>
          </a:p>
          <a:p>
            <a:pPr>
              <a:spcAft>
                <a:spcPts val="300"/>
              </a:spcAft>
              <a:defRPr sz="1200">
                <a:solidFill>
                  <a:srgbClr val="0F172A"/>
                </a:solidFill>
              </a:defRPr>
            </a:pPr>
            <a:r>
              <a:t>•  Missing Value Treatment: Cleaned records with missing details; marked non-returned orders clearly as 'Completed'.</a:t>
            </a:r>
          </a:p>
          <a:p>
            <a:pPr>
              <a:spcAft>
                <a:spcPts val="300"/>
              </a:spcAft>
              <a:defRPr sz="1200">
                <a:solidFill>
                  <a:srgbClr val="0F172A"/>
                </a:solidFill>
              </a:defRPr>
            </a:pPr>
            <a:r>
              <a:t>•  Deduplication: Checked for repeated Order IDs to guarantee transaction uniqueness.</a:t>
            </a:r>
          </a:p>
          <a:p>
            <a:pPr>
              <a:spcAft>
                <a:spcPts val="300"/>
              </a:spcAft>
              <a:defRPr sz="1200">
                <a:solidFill>
                  <a:srgbClr val="0F172A"/>
                </a:solidFill>
              </a:defRPr>
            </a:pPr>
            <a:r>
              <a:t>•  Derived Metrics: Created Net Realized Sales, Return Rate %, Refund Amount, and Customer RFM scores.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77900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🗣️ What to Say: </a:t>
            </a:r>
            <a:r>
              <a:rPr sz="1100" b="0">
                <a:solidFill>
                  <a:srgbClr val="0F172A"/>
                </a:solidFill>
              </a:rPr>
              <a:t>"Our dataset consists of 5,000 orders placed by 811 customers. We cleaned the data by validating all dates, removing duplicates, and calculating net sales after returns."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4 OF 10  •  E-COMMERCE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Key Performance Indicators (The Big Numbers)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Top-level sales, realized revenue, and return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GROSS INVOICED SALES</a:t>
            </a:r>
          </a:p>
          <a:p>
            <a:pPr>
              <a:defRPr sz="2600" b="1">
                <a:solidFill>
                  <a:srgbClr val="2563EB"/>
                </a:solidFill>
              </a:defRPr>
            </a:pPr>
            <a:r>
              <a:t>Rs. 4.96 Cr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Total value of all orders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NET REALIZED SALES</a:t>
            </a:r>
          </a:p>
          <a:p>
            <a:pPr>
              <a:defRPr sz="2600" b="1">
                <a:solidFill>
                  <a:srgbClr val="10B981"/>
                </a:solidFill>
              </a:defRPr>
            </a:pPr>
            <a:r>
              <a:t>Rs. 3.85 Cr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Money actually retained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4592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ORDER RETURN RATE</a:t>
            </a:r>
          </a:p>
          <a:p>
            <a:pPr>
              <a:defRPr sz="2600" b="1">
                <a:solidFill>
                  <a:srgbClr val="E11D48"/>
                </a:solidFill>
              </a:defRPr>
            </a:pPr>
            <a:r>
              <a:t>22.7%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1,135 orders sent 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64592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LOST TO REFUNDS</a:t>
            </a:r>
          </a:p>
          <a:p>
            <a:pPr>
              <a:defRPr sz="2600" b="1">
                <a:solidFill>
                  <a:srgbClr val="D97706"/>
                </a:solidFill>
              </a:defRPr>
            </a:pPr>
            <a:r>
              <a:t>Rs. 1.11 Cr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22.4% direct revenue loss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10728655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1188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Key Takeaways from the Numbers: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</a:defRPr>
            </a:pPr>
            <a:r>
              <a:t>•  Nearly 1 out of every 4 orders (22.7%) is returned by customers.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</a:defRPr>
            </a:pPr>
            <a:r>
              <a:t>•  While the business recorded Rs. 4.96 Crore in sales, only Rs. 3.85 Crore was retained as actual cash.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</a:defRPr>
            </a:pPr>
            <a:r>
              <a:t>•  Over 1.11 Crore Rupees was given back as customer refunds — representing massive profit leakage.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</a:defRPr>
            </a:pPr>
            <a:r>
              <a:t>•  The Average Order Value (AOV) is Rs. 9,928, showing strong basket size despite high returns.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77900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🗣️ What to Say: </a:t>
            </a:r>
            <a:r>
              <a:rPr sz="1100" b="0">
                <a:solidFill>
                  <a:srgbClr val="0F172A"/>
                </a:solidFill>
              </a:rPr>
              <a:t>"Here are the headline figures: Out of nearly 5 crore rupees in gross sales, over 1.1 crore was refunded because 22.7% of orders were returned. That is nearly 1 in every 4 orders."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5 OF 10  •  E-COMMERCE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Sales Performance &amp;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When do customers buy and where are they located?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92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563EB"/>
                </a:solidFill>
              </a:defRPr>
            </a:pPr>
            <a:r>
              <a:t>Monthly Sales Velocity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Steady Baseline: Monthly sales average Rs. 33 Lakhs reliably.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Festival Peak (Oct - Dec): Sales surged over Rs. 38 Lakhs per month due to festival discounts and gift buying.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The January Hangover: Returns spiked in January right after the heavy holiday shopping season (reaching 24.5%).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Consistent Realization: Across all months, the company consistently retained about 77% of gross sales.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578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92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Geographic Distribution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West Region (27% of Sales): Mumbai, Pune, Ahmedabad lead in total electronics and gadgets revenue.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North Region (26% of Sales): Delhi NCR and Jaipur lead in fashion and home goods volume.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South Region (25% of Sales): Bengaluru and Hyderabad exhibit the highest prepaid adoption and lowest returns (21%).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East Region (22% of Sales): Kolkata and Patna; slower delivery times correlate with higher return rates (24.6%).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77900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🗣️ What to Say: </a:t>
            </a:r>
            <a:r>
              <a:rPr sz="1100" b="0">
                <a:solidFill>
                  <a:srgbClr val="0F172A"/>
                </a:solidFill>
              </a:rPr>
              <a:t>"Looking at sales trends, business was strong year-round with a big spike in Q4 during festival sales. Geographically, demand is well-balanced across West, North, South, and East India."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6 OF 10  •  E-COMMERCE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Customer Purchasing Behaviour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Who are the customers and who returns the most?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563EB"/>
                </a:solidFill>
              </a:defRPr>
            </a:pPr>
            <a:r>
              <a:t>811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Total Buyers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Active Customer Pool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603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7373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B981"/>
                </a:solidFill>
              </a:defRPr>
            </a:pPr>
            <a:r>
              <a:t>84.0%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Repeat Purchase Rate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High Customer Loyalty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45920"/>
            <a:ext cx="25603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7373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D97706"/>
                </a:solidFill>
              </a:defRPr>
            </a:pPr>
            <a:r>
              <a:t>6.2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Orders / Customer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Average Purchases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645920"/>
            <a:ext cx="25603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17373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11D48"/>
                </a:solidFill>
              </a:defRPr>
            </a:pPr>
            <a:r>
              <a:t>53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Serial Returners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Over 50% Return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91840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47472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Customer Loyalty vs. Return Abuse Discovery: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</a:defRPr>
            </a:pPr>
            <a:r>
              <a:t>•  Strong Loyalty: 84% of customers buy repeatedly, proving strong product appeal and brand trust.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</a:defRPr>
            </a:pPr>
            <a:r>
              <a:t>•  Top VIP Customers (25%): Generate 38% of platform revenue with a very low return rate of only 14%.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</a:defRPr>
            </a:pPr>
            <a:r>
              <a:t>•  ⚠️ The 'Serial Returners' Discovery: We identified 53 customer accounts who ordered at least 3 times and returned MORE than 50% of everything they bought.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</a:defRPr>
            </a:pPr>
            <a:r>
              <a:t>•  Financial Impact: These 53 serial returners caused Rs. 17.4 Lakhs in refunds — accounting for nearly 16% of all return losses!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77900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🗣️ What to Say: </a:t>
            </a:r>
            <a:r>
              <a:rPr sz="1100" b="0">
                <a:solidFill>
                  <a:srgbClr val="0F172A"/>
                </a:solidFill>
              </a:rPr>
              <a:t>"Most customers are loyal with an 84% repeat rate. However, we found a small group of 53 'serial returners' who return over half of what they buy, causing 17.4 lakh rupees in losses."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7 OF 10  •  E-COMMERCE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Category Performance: Best vs. Worst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Which product departments make profit and which cause trouble?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6949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Electronics  —  Gross Sales: Rs. 3.19 Cr  |  Return Rate: 18.9%  |  Refund Loss: Rs. 67.5 L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🏆 Biggest Revenue Driver (Laptops, TVs, Headphones)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32304"/>
            <a:ext cx="10728655" cy="6949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05456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C3AED"/>
                </a:solidFill>
              </a:defRPr>
            </a:pPr>
            <a:r>
              <a:t>Home &amp; Furniture  —  Gross Sales: Rs. 1.10 Cr  |  Return Rate: 21.0%  |  Refund Loss: Rs. 24.3 L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📦 Heavy Items (Desks, Chairs, Bookshelves)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18688"/>
            <a:ext cx="10728655" cy="6949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1D48"/>
                </a:solidFill>
              </a:defRPr>
            </a:pPr>
            <a:r>
              <a:t>Clothing &amp; Apparel  —  Gross Sales: Rs. 36.3 Lakh  |  Return Rate: 34.5%  |  Refund Loss: Rs. 13.8 L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🚨 CRITICAL PROBLEM: Over 1 in 3 items returned!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05072"/>
            <a:ext cx="10728655" cy="6949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78224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Sports &amp; Fitness  —  Gross Sales: Rs. 20.5 Lakh  |  Return Rate: 19.8%  |  Refund Loss: Rs. 4.4 L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🏃 Stable niche (Yoga mats, Dumbbells, Gear)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91456"/>
            <a:ext cx="10728655" cy="6949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6460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Beauty &amp; Personal Care  —  Gross Sales: Rs. 10.8 Lakh  |  Return Rate: 11.9%  |  Refund Loss: Rs. 1.1 L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⭐ Lowest Return Rate (Strict hygiene rules)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77900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🗣️ What to Say: </a:t>
            </a:r>
            <a:r>
              <a:rPr sz="1100" b="0">
                <a:solidFill>
                  <a:srgbClr val="0F172A"/>
                </a:solidFill>
              </a:rPr>
              <a:t>"Electronics brings in the highest revenue at 3.2 crore rupees. But Clothing is our biggest problem area: it has an alarming 34.5% return rate, meaning more than one out of every three garments is sent back."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8 OF 10  •  E-COMMERCE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Why Are Products Returned?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Breaking down the real root causes behind 1,135 returns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0574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828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</a:defRPr>
            </a:pPr>
            <a:r>
              <a:t>Size / Fit Issue</a:t>
            </a:r>
          </a:p>
          <a:p>
            <a:pPr>
              <a:defRPr sz="2400" b="1">
                <a:solidFill>
                  <a:srgbClr val="E11D48"/>
                </a:solidFill>
              </a:defRPr>
            </a:pPr>
            <a:r>
              <a:t>28.3%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321 Orders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Apparel &amp; footwear sizing confusion. Customers buy two sizes and return 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645920"/>
            <a:ext cx="20574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19" y="1783080"/>
            <a:ext cx="1828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</a:defRPr>
            </a:pPr>
            <a:r>
              <a:t>Defective / Damaged</a:t>
            </a:r>
          </a:p>
          <a:p>
            <a:pPr>
              <a:defRPr sz="2400" b="1">
                <a:solidFill>
                  <a:srgbClr val="D97706"/>
                </a:solidFill>
              </a:defRPr>
            </a:pPr>
            <a:r>
              <a:t>22.0%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250 Orders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Broken during transit or faulty electronics. Highlights packaging issues.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645920"/>
            <a:ext cx="20574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93792" y="1783080"/>
            <a:ext cx="1828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</a:defRPr>
            </a:pPr>
            <a:r>
              <a:t>Not as Described</a:t>
            </a:r>
          </a:p>
          <a:p>
            <a:pPr>
              <a:defRPr sz="2400" b="1">
                <a:solidFill>
                  <a:srgbClr val="7C3AED"/>
                </a:solidFill>
              </a:defRPr>
            </a:pPr>
            <a:r>
              <a:t>18.1%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205 Orders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Color or specifications did not match website listing photos.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645920"/>
            <a:ext cx="20574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70064" y="1783080"/>
            <a:ext cx="1828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</a:defRPr>
            </a:pPr>
            <a:r>
              <a:t>Changed Mind</a:t>
            </a:r>
          </a:p>
          <a:p>
            <a:pPr>
              <a:defRPr sz="2400" b="1">
                <a:solidFill>
                  <a:srgbClr val="2563EB"/>
                </a:solidFill>
              </a:defRPr>
            </a:pPr>
            <a:r>
              <a:t>15.4%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175 Orders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Impulse buying caused by big discounts; zero barrier to return.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645920"/>
            <a:ext cx="20574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46336" y="1783080"/>
            <a:ext cx="1828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</a:defRPr>
            </a:pPr>
            <a:r>
              <a:t>Late Delivery</a:t>
            </a:r>
          </a:p>
          <a:p>
            <a:pPr>
              <a:defRPr sz="2400" b="1">
                <a:solidFill>
                  <a:srgbClr val="475569"/>
                </a:solidFill>
              </a:defRPr>
            </a:pPr>
            <a:r>
              <a:t>16.2%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184 Orders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Took over 5 days; customer bought elsewhere or rejected delivery.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77900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🗣️ What to Say: </a:t>
            </a:r>
            <a:r>
              <a:rPr sz="1100" b="0">
                <a:solidFill>
                  <a:srgbClr val="0F172A"/>
                </a:solidFill>
              </a:rPr>
              <a:t>"Why do customers return products? Number one is sizing issues at 28%, followed by damaged goods at 22%, and products not matching descriptions at 18%."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9 OF 10  •  E-COMMERCE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Hidden Risk: Cash on Delivery (COD)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How payment method and delivery speed impact return rates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92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E11D48"/>
                </a:solidFill>
              </a:defRPr>
            </a:pPr>
            <a:r>
              <a:t>Payment Method Comparison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•  Cash on Delivery (COD): </a:t>
            </a:r>
            <a:r>
              <a:rPr b="1">
                <a:solidFill>
                  <a:srgbClr val="E11D48"/>
                </a:solidFill>
              </a:rPr>
              <a:t>[31.8% Return Rate] </a:t>
            </a:r>
            <a:r>
              <a:rPr b="0">
                <a:solidFill>
                  <a:srgbClr val="475569"/>
                </a:solidFill>
              </a:rPr>
              <a:t>Zero financial commitment at checkout makes it easy for buyers to reject parcels at their doorstep.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•  Credit &amp; Debit Cards: </a:t>
            </a:r>
            <a:r>
              <a:rPr b="1">
                <a:solidFill>
                  <a:srgbClr val="E11D48"/>
                </a:solidFill>
              </a:rPr>
              <a:t>[20.4% Return Rate] </a:t>
            </a:r>
            <a:r>
              <a:rPr b="0">
                <a:solidFill>
                  <a:srgbClr val="475569"/>
                </a:solidFill>
              </a:rPr>
              <a:t>Customers who pay upfront rarely cancel or refuse deliveries.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•  UPI / Digital Wallets: </a:t>
            </a:r>
            <a:r>
              <a:rPr b="1">
                <a:solidFill>
                  <a:srgbClr val="E11D48"/>
                </a:solidFill>
              </a:rPr>
              <a:t>[19.6% Return Rate] </a:t>
            </a:r>
            <a:r>
              <a:rPr b="0">
                <a:solidFill>
                  <a:srgbClr val="475569"/>
                </a:solidFill>
              </a:rPr>
              <a:t>Lowest return rate and fastest growing payment method.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•  The Big Insight: </a:t>
            </a:r>
            <a:r>
              <a:rPr b="1">
                <a:solidFill>
                  <a:srgbClr val="E11D48"/>
                </a:solidFill>
              </a:rPr>
              <a:t>[+11% Return Gap] </a:t>
            </a:r>
            <a:r>
              <a:rPr b="0">
                <a:solidFill>
                  <a:srgbClr val="475569"/>
                </a:solidFill>
              </a:rPr>
              <a:t>COD orders have an 11% higher return rate for identical products!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578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92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D97706"/>
                </a:solidFill>
              </a:defRPr>
            </a:pPr>
            <a:r>
              <a:t>Delivery Speed &amp; Discount Effects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•  Fast Delivery (1-2 Days): </a:t>
            </a:r>
            <a:r>
              <a:rPr b="1">
                <a:solidFill>
                  <a:srgbClr val="D97706"/>
                </a:solidFill>
              </a:rPr>
              <a:t>[15.2% Return Rate] </a:t>
            </a:r>
            <a:r>
              <a:rPr b="0">
                <a:solidFill>
                  <a:srgbClr val="475569"/>
                </a:solidFill>
              </a:rPr>
              <a:t>Instant gratification keeps excitement high and reduces buyer remorse.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•  Slow Delivery (5+ Days): </a:t>
            </a:r>
            <a:r>
              <a:rPr b="1">
                <a:solidFill>
                  <a:srgbClr val="D97706"/>
                </a:solidFill>
              </a:rPr>
              <a:t>[25.8% Return Rate] </a:t>
            </a:r>
            <a:r>
              <a:rPr b="0">
                <a:solidFill>
                  <a:srgbClr val="475569"/>
                </a:solidFill>
              </a:rPr>
              <a:t>Delays give buyers time to change their minds or buy elsewhere.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•  Heavy Discounts (&gt;20%): </a:t>
            </a:r>
            <a:r>
              <a:rPr b="1">
                <a:solidFill>
                  <a:srgbClr val="D97706"/>
                </a:solidFill>
              </a:rPr>
              <a:t>[26.4% Return Rate] </a:t>
            </a:r>
            <a:r>
              <a:rPr b="0">
                <a:solidFill>
                  <a:srgbClr val="475569"/>
                </a:solidFill>
              </a:rPr>
              <a:t>Steep sales attract impulse buyers who often return.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•  Average Return Time: </a:t>
            </a:r>
            <a:r>
              <a:rPr b="1">
                <a:solidFill>
                  <a:srgbClr val="D97706"/>
                </a:solidFill>
              </a:rPr>
              <a:t>[8 Days] </a:t>
            </a:r>
            <a:r>
              <a:rPr b="0">
                <a:solidFill>
                  <a:srgbClr val="475569"/>
                </a:solidFill>
              </a:rPr>
              <a:t>Most returns happen within 8 days of parcel delivery.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77900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🗣️ What to Say: </a:t>
            </a:r>
            <a:r>
              <a:rPr sz="1100" b="0">
                <a:solidFill>
                  <a:srgbClr val="0F172A"/>
                </a:solidFill>
              </a:rPr>
              <a:t>"Here is a key finding: Cash on Delivery has a 32% return rate compared to 20% for UPI and Cards. When people don't pay upfront, they reject packages much more easily."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10 OF 10  •  E-COMMERCE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Action Plan &amp; Strategic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4 simple steps to reduce returns and save money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92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563EB"/>
                </a:solidFill>
              </a:defRPr>
            </a:pPr>
            <a:r>
              <a:t>1. Fix Clothing Sizing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Add accurate 3D size charts, height/weight fit recommendations, and customer fit feedback ('Runs true to size') to slash fashion returns by 40%.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5780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783080"/>
            <a:ext cx="4892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B981"/>
                </a:solidFill>
              </a:defRPr>
            </a:pPr>
            <a:r>
              <a:t>2. Cut COD Return Rates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Give a 2% instant discount for paying via UPI, and send a WhatsApp OTP verification before dispatching COD packages.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11880"/>
            <a:ext cx="525780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49040"/>
            <a:ext cx="4892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D97706"/>
                </a:solidFill>
              </a:defRPr>
            </a:pPr>
            <a:r>
              <a:t>3. Protect Fragile Goods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Improve packaging with bubble wrap and corner protectors for monitors and furniture, and keep delivery under 4 days.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611880"/>
            <a:ext cx="525780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3749040"/>
            <a:ext cx="4892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7C3AED"/>
                </a:solidFill>
              </a:defRPr>
            </a:pPr>
            <a:r>
              <a:t>4. Handle Serial Returners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Charge a modest return shipping fee for customers with return rates above 50% to stop return abuse.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77900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🗣️ What to Say: </a:t>
            </a:r>
            <a:r>
              <a:rPr sz="1100" b="0">
                <a:solidFill>
                  <a:srgbClr val="0F172A"/>
                </a:solidFill>
              </a:rPr>
              <a:t>"To conclude: by improving size guides, encouraging UPI payments, protecting fragile packages, and monitoring serial returners, the company can cut returns by 5% and save 25 lakh rupees every year. Thank you!"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