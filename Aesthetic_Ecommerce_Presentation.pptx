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69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6366F1"/>
                </a:solidFill>
              </a:defRPr>
            </a:pPr>
            <a:r>
              <a:t>📊  ACADEMIC &amp; EXECUTIVE PROJECT PRESENTATION</a:t>
            </a:r>
          </a:p>
          <a:p>
            <a:pPr>
              <a:spcAft>
                <a:spcPts val="1600"/>
              </a:spcAft>
              <a:defRPr sz="3800" b="1">
                <a:solidFill>
                  <a:srgbClr val="F8FAFC"/>
                </a:solidFill>
              </a:defRPr>
            </a:pPr>
            <a:r>
              <a:t>E-Commerce Sales, Returns &amp;</a:t>
            </a:r>
            <a:br/>
            <a:r>
              <a:t>Customer Behaviour Analysis</a:t>
            </a:r>
          </a:p>
          <a:p>
            <a:pPr>
              <a:spcAft>
                <a:spcPts val="2800"/>
              </a:spcAft>
              <a:defRPr sz="1600">
                <a:solidFill>
                  <a:srgbClr val="94A3B8"/>
                </a:solidFill>
              </a:defRPr>
            </a:pPr>
            <a:r>
              <a:t>Understanding Revenue Realization, Customer RFM Loyalty &amp; Return Root-Causes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📁 Dataset: Kaggle E-Commerce Orders &amp; Returns  •  🛠️ Stack: Python, Pandas, Streamlit, Matplotlib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SLIDE 2 OF 10  •  THE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Project Overview &amp; Business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EF4444"/>
                </a:solidFill>
              </a:defRPr>
            </a:pPr>
            <a:r>
              <a:t>🚨 The Real-World Problem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High gross sales look impressive on paper, but product returns quietly destroy company profit margins. Returns cause extra delivery costs, restocking fees, and tied-up stock.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6304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459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59E0B"/>
                </a:solidFill>
              </a:defRPr>
            </a:pPr>
            <a:r>
              <a:t>💸 Why It Matters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Our analysis reveals a 22.7% return rate — meaning over 1 Crore Rupees was lost to customer refunds. We need to identify exactly which items get returned and why.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463040"/>
            <a:ext cx="3474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16459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🎯 Project Objectives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Clean &amp; validate 5,000 order records</a:t>
            </a:r>
            <a:br/>
            <a:r>
              <a:t>• Analyze sales velocity and revenue trends</a:t>
            </a:r>
            <a:br/>
            <a:r>
              <a:t>• Profile customer purchasing behaviour (RFM)</a:t>
            </a:r>
            <a:br/>
            <a:r>
              <a:t>• Uncover return causes and deliver solutions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79008"/>
            <a:ext cx="10728655" cy="7315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97296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🗣️ Presenter Script: </a:t>
            </a:r>
            <a:r>
              <a:rPr sz="1100" b="0">
                <a:solidFill>
                  <a:srgbClr val="F8FAFC"/>
                </a:solidFill>
              </a:rPr>
              <a:t>"Good morning everyone. In this project, we analyzed an e-commerce platform to understand where the company generates strong sales, and where it loses significant revenue due to product returns."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SLIDE 3 OF 10  • 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Dataset Architecture &amp; Data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366F1"/>
                </a:solidFill>
              </a:defRPr>
            </a:pPr>
            <a:r>
              <a:t>📦 5,000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Total Orders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15 months analyzed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463040"/>
            <a:ext cx="25603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5544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👥 811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Unique Customers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Across 20 Indian cities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463040"/>
            <a:ext cx="25603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5544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📋 31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Features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Orders, customers, returns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463040"/>
            <a:ext cx="25603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5544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✨ 100%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Clean Data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Zero duplicates / NaNs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10728655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00400"/>
            <a:ext cx="10149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6366F1"/>
                </a:solidFill>
              </a:defRPr>
            </a:pPr>
            <a:r>
              <a:t>🛠️ How We Cleaned and Transformed the Dataset: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1. Timestamp Parsing: Validated Order Date, Delivery Date, and Return Date; calculated delivery and return transit days.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2. Numeric Boundary Checks: Enforced positive Unit Price, Quantity &gt;= 1, and verified gross vs net pricing arithmetic.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3. Missing Value Treatment: Applied zero-loss imputation; marked non-returned orders cleanly as 'Completed' and standardized reasons.</a:t>
            </a:r>
          </a:p>
          <a:p>
            <a:pPr>
              <a:spcAft>
                <a:spcPts val="300"/>
              </a:spcAft>
              <a:defRPr sz="1200">
                <a:solidFill>
                  <a:srgbClr val="F8FAFC"/>
                </a:solidFill>
              </a:defRPr>
            </a:pPr>
            <a:r>
              <a:t>4. Derived Financial Measures: Engineered Net Realized Sales, Refund Loss, Revenue Realization Rate %, and RFM customer scores.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79008"/>
            <a:ext cx="10728655" cy="7315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97296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🗣️ Presenter Script: </a:t>
            </a:r>
            <a:r>
              <a:rPr sz="1100" b="0">
                <a:solidFill>
                  <a:srgbClr val="F8FAFC"/>
                </a:solidFill>
              </a:rPr>
              <a:t>"We worked with 5,000 orders placed by 811 customers across 31 features. Before running any analysis, we cleaned all missing values, removed duplicate rows, and verified all date calculations."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SLIDE 4 OF 10  •  REVENUE &amp; REALIZATION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Executive KPIs: The Big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94360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55778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💰 Gross Sales:  Rs. 4.96 Crore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Total value of all customer orders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87168"/>
            <a:ext cx="594360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55778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💳 Net Realized Sales:  Rs. 3.85 Crore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Actual cash retained (77.6% realization)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11296"/>
            <a:ext cx="594360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84448"/>
            <a:ext cx="55778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🔄 Order Return Rate:  22.70%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1,135 orders sent back by customers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35424"/>
            <a:ext cx="594360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08576"/>
            <a:ext cx="557784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💸 Total Refund Loss:  Rs. 1.11 Crore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22.4% direct gross revenue erosion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463040"/>
            <a:ext cx="460217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hart_revenue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00200"/>
            <a:ext cx="4389120" cy="374903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5779008"/>
            <a:ext cx="10728655" cy="7315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97296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🗣️ Presenter Script: </a:t>
            </a:r>
            <a:r>
              <a:rPr sz="1100" b="0">
                <a:solidFill>
                  <a:srgbClr val="F8FAFC"/>
                </a:solidFill>
              </a:rPr>
              <a:t>"Here are the headline numbers: Out of nearly 5 crore rupees in gross sales, over 1.1 crore rupees was refunded because 22.7% of orders were returned. That is nearly 1 in every 4 orders."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SLIDE 5 OF 10  •  SEASONALITY &amp;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Sales Velocity &amp; Monthly Trends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394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6366F1"/>
                </a:solidFill>
              </a:defRPr>
            </a:pPr>
            <a:r>
              <a:t>📈 Key Sales &amp; Seasonality Findings: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• Steady Baseline: </a:t>
            </a:r>
            <a:r>
              <a:rPr b="0">
                <a:solidFill>
                  <a:srgbClr val="94A3B8"/>
                </a:solidFill>
              </a:rPr>
              <a:t>The business maintains a reliable monthly run-rate of approximately Rs. 33 Lakhs.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• Q4 Festival Surge: </a:t>
            </a:r>
            <a:r>
              <a:rPr b="0">
                <a:solidFill>
                  <a:srgbClr val="94A3B8"/>
                </a:solidFill>
              </a:rPr>
              <a:t>October to December recorded sales exceeding Rs. 38 Lakhs per month fueled by festival promotions.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• The January Hangover: </a:t>
            </a:r>
            <a:r>
              <a:rPr b="0">
                <a:solidFill>
                  <a:srgbClr val="94A3B8"/>
                </a:solidFill>
              </a:rPr>
              <a:t>Returns spiked sharply in January (reaching 24.5%) as holiday gifts and impulse buys were returned.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• Balanced Geography: </a:t>
            </a:r>
            <a:r>
              <a:rPr b="0">
                <a:solidFill>
                  <a:srgbClr val="94A3B8"/>
                </a:solidFill>
              </a:rPr>
              <a:t>Demand is well spread: West (27%), North (26%), South (25%), and East (22%).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5081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00200"/>
            <a:ext cx="4937760" cy="37490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5779008"/>
            <a:ext cx="10728655" cy="7315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97296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🗣️ Presenter Script: </a:t>
            </a:r>
            <a:r>
              <a:rPr sz="1100" b="0">
                <a:solidFill>
                  <a:srgbClr val="F8FAFC"/>
                </a:solidFill>
              </a:rPr>
              <a:t>"Sales were strong year-round with a big peak during the Q4 festival season. However, that holiday shopping rush was immediately followed by a sharp return spike in January."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SLIDE 6 OF 10  •  RFM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Customer Loyalty vs. Return Abuse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577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5212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👥 Customer Behaviour Insights: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• High Loyalty (84% Repeat Rate): </a:t>
            </a:r>
            <a:r>
              <a:rPr b="0">
                <a:solidFill>
                  <a:srgbClr val="94A3B8"/>
                </a:solidFill>
              </a:rPr>
              <a:t>Most buyers purchase repeatedly, averaging 6.2 orders per account over the 15 months.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• Champions &amp; VIPs (25% of buyers): </a:t>
            </a:r>
            <a:r>
              <a:rPr b="0">
                <a:solidFill>
                  <a:srgbClr val="94A3B8"/>
                </a:solidFill>
              </a:rPr>
              <a:t>Generate 38% of platform net revenue with an exemplary low return rate of only 14%.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• 🚨 The Serial Returners Discovery: </a:t>
            </a:r>
            <a:r>
              <a:rPr b="0">
                <a:solidFill>
                  <a:srgbClr val="94A3B8"/>
                </a:solidFill>
              </a:rPr>
              <a:t>We detected 53 customers who ordered at least 3 times and returned MORE than 50% of what they bought.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• Rs. 17.4 Lakhs Loss: </a:t>
            </a:r>
            <a:r>
              <a:rPr b="0">
                <a:solidFill>
                  <a:srgbClr val="94A3B8"/>
                </a:solidFill>
              </a:rPr>
              <a:t>These 53 serial returners caused nearly 16% of all return losses on the entire platform!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496793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customer_r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754880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5779008"/>
            <a:ext cx="10728655" cy="7315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97296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🗣️ Presenter Script: </a:t>
            </a:r>
            <a:r>
              <a:rPr sz="1100" b="0">
                <a:solidFill>
                  <a:srgbClr val="F8FAFC"/>
                </a:solidFill>
              </a:rPr>
              <a:t>"Most customers are loyal with an 84% repeat rate. But our segmentation uncovered 53 'serial returners' who return over half of everything they order, causing 17.4 lakh rupees in losses."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SLIDE 7 OF 10  •  DEPARTMENT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Category Performance: Best vs. Worst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577840" cy="1234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🏆 Electronics (Top Revenue)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Rs. 3.19 Cr Sales  |  18.9% Return Rate  |  Rs. 67.5L Refunds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Primary revenue anchor; returns driven by tech defects and transit damage.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5577840" cy="1234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07792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🚨 Clothing &amp; Apparel (Critical Problem)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Rs. 36.3 Lakh Sales  |  34.5% Return Rate  |  Rs. 13.8L Refunds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Worst return rate! More than 1 out of 3 garments sent back due to sizing.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577840" cy="1234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79392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⭐ Beauty &amp; Personal Care (Best Retention)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Rs. 10.8 Lakh Sales  |  11.9% Return Rate  |  Rs. 1.1L Refunds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Lowest return rate on the platform due to strict hygiene policies.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463040"/>
            <a:ext cx="496793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art_category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754880" cy="36576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31520" y="5779008"/>
            <a:ext cx="10728655" cy="7315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97296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🗣️ Presenter Script: </a:t>
            </a:r>
            <a:r>
              <a:rPr sz="1100" b="0">
                <a:solidFill>
                  <a:srgbClr val="F8FAFC"/>
                </a:solidFill>
              </a:rPr>
              <a:t>"Electronics brings in the most revenue at 3.2 crore rupees. But Clothing is our biggest problem: it has an alarming 34.5% return rate, meaning more than one out of every three garments is returned."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SLIDE 8 OF 10  •  ROOT CAUSE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Why Are Products Returned?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76072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5394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6366F1"/>
                </a:solidFill>
              </a:defRPr>
            </a:pPr>
            <a:r>
              <a:t>🔍 Top Stated Return Drivers (1,135 Returns):</a:t>
            </a:r>
          </a:p>
          <a:p>
            <a:pPr>
              <a:spcAft>
                <a:spcPts val="400"/>
              </a:spcAft>
              <a:defRPr sz="1150" b="1">
                <a:solidFill>
                  <a:srgbClr val="F8FAFC"/>
                </a:solidFill>
              </a:defRPr>
            </a:pPr>
            <a:r>
              <a:t>👕 1. Size / Fit Issue (28.3% - 321 orders): </a:t>
            </a:r>
            <a:r>
              <a:rPr b="0">
                <a:solidFill>
                  <a:srgbClr val="94A3B8"/>
                </a:solidFill>
              </a:rPr>
              <a:t>Dominates apparel. Customers frequently order 2 sizes and return 1.</a:t>
            </a:r>
          </a:p>
          <a:p>
            <a:pPr>
              <a:spcAft>
                <a:spcPts val="400"/>
              </a:spcAft>
              <a:defRPr sz="1150" b="1">
                <a:solidFill>
                  <a:srgbClr val="F8FAFC"/>
                </a:solidFill>
              </a:defRPr>
            </a:pPr>
            <a:r>
              <a:t>📦 2. Defective / Damaged (22.0% - 250 orders): </a:t>
            </a:r>
            <a:r>
              <a:rPr b="0">
                <a:solidFill>
                  <a:srgbClr val="94A3B8"/>
                </a:solidFill>
              </a:rPr>
              <a:t>Transit damage in fragile electronics and solid wood furniture.</a:t>
            </a:r>
          </a:p>
          <a:p>
            <a:pPr>
              <a:spcAft>
                <a:spcPts val="400"/>
              </a:spcAft>
              <a:defRPr sz="1150" b="1">
                <a:solidFill>
                  <a:srgbClr val="F8FAFC"/>
                </a:solidFill>
              </a:defRPr>
            </a:pPr>
            <a:r>
              <a:t>🎨 3. Not as Described (18.1% - 205 orders): </a:t>
            </a:r>
            <a:r>
              <a:rPr b="0">
                <a:solidFill>
                  <a:srgbClr val="94A3B8"/>
                </a:solidFill>
              </a:rPr>
              <a:t>Color or specifications did not match the website catalog photos.</a:t>
            </a:r>
          </a:p>
          <a:p>
            <a:pPr>
              <a:spcAft>
                <a:spcPts val="400"/>
              </a:spcAft>
              <a:defRPr sz="1150" b="1">
                <a:solidFill>
                  <a:srgbClr val="F8FAFC"/>
                </a:solidFill>
              </a:defRPr>
            </a:pPr>
            <a:r>
              <a:t>🤔 4. Changed Mind (15.4% - 175 orders): </a:t>
            </a:r>
            <a:r>
              <a:rPr b="0">
                <a:solidFill>
                  <a:srgbClr val="94A3B8"/>
                </a:solidFill>
              </a:rPr>
              <a:t>Impulse shopping triggered by high discounts (&gt;20%).</a:t>
            </a:r>
          </a:p>
          <a:p>
            <a:pPr>
              <a:spcAft>
                <a:spcPts val="400"/>
              </a:spcAft>
              <a:defRPr sz="1150" b="1">
                <a:solidFill>
                  <a:srgbClr val="F8FAFC"/>
                </a:solidFill>
              </a:defRPr>
            </a:pPr>
            <a:r>
              <a:t>⏱️ 5. Late Delivery (16.2% - 184 orders): </a:t>
            </a:r>
            <a:r>
              <a:rPr b="0">
                <a:solidFill>
                  <a:srgbClr val="94A3B8"/>
                </a:solidFill>
              </a:rPr>
              <a:t>Shipments taking &gt;5 days face high doorstep refusal rates.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463040"/>
            <a:ext cx="478505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return_rea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45920"/>
            <a:ext cx="4572000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5779008"/>
            <a:ext cx="10728655" cy="7315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97296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🗣️ Presenter Script: </a:t>
            </a:r>
            <a:r>
              <a:rPr sz="1100" b="0">
                <a:solidFill>
                  <a:srgbClr val="F8FAFC"/>
                </a:solidFill>
              </a:rPr>
              <a:t>"Why do customers return items? The number one reason is sizing issues at 28%, followed by damaged goods during transit at 22%, and items not matching descriptions at 18%."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SLIDE 9 OF 10  •  PAYMENT METHODS &amp; TRANSIT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Hidden Risk: Cash on Delivery (COD)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577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5212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💳 Payment Mode Impact on Returns: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• 💵 Cash on Delivery (COD) Risk: </a:t>
            </a:r>
            <a:r>
              <a:rPr b="0">
                <a:solidFill>
                  <a:srgbClr val="94A3B8"/>
                </a:solidFill>
              </a:rPr>
              <a:t>Records a 31.8% return/refusal rate. Because no money was paid upfront, customers easily refuse parcels at the doorstep.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• 💳 Digital Payments (UPI &amp; Cards): </a:t>
            </a:r>
            <a:r>
              <a:rPr b="0">
                <a:solidFill>
                  <a:srgbClr val="94A3B8"/>
                </a:solidFill>
              </a:rPr>
              <a:t>Average return rate is only ~20%. Upfront financial commitment sharply reduces casual cancellations.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• 🚨 +11% Risk Premium: </a:t>
            </a:r>
            <a:r>
              <a:rPr b="0">
                <a:solidFill>
                  <a:srgbClr val="94A3B8"/>
                </a:solidFill>
              </a:rPr>
              <a:t>COD orders have an 11% higher return rate than prepaid orders for identical products!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</a:defRPr>
            </a:pPr>
            <a:r>
              <a:t>• 🚀 Delivery Speed Matters: </a:t>
            </a:r>
            <a:r>
              <a:rPr b="0">
                <a:solidFill>
                  <a:srgbClr val="94A3B8"/>
                </a:solidFill>
              </a:rPr>
              <a:t>Orders delivered within 1–2 days have a 15% return rate, compared to 26% for orders taking over 5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496793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payment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754880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5779008"/>
            <a:ext cx="10728655" cy="7315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97296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🗣️ Presenter Script: </a:t>
            </a:r>
            <a:r>
              <a:rPr sz="1100" b="0">
                <a:solidFill>
                  <a:srgbClr val="F8FAFC"/>
                </a:solidFill>
              </a:rPr>
              <a:t>"A critical finding is payment mode: Cash on Delivery has a 32% return rate compared to 20% for UPI and cards. When customers do not pay upfront, they reject packages much more easily."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SLIDE 10 OF 10  •  RECOVERING RS. 25 LAKHS ANNUALLY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8FAFC"/>
                </a:solidFill>
              </a:defRPr>
            </a:pPr>
            <a:r>
              <a:t>Action Plan &amp; Strategic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577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5212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🎯 4 Strategic Business Interventions:</a:t>
            </a:r>
          </a:p>
          <a:p>
            <a:pPr>
              <a:spcAft>
                <a:spcPts val="500"/>
              </a:spcAft>
              <a:defRPr sz="1150" b="1">
                <a:solidFill>
                  <a:srgbClr val="F8FAFC"/>
                </a:solidFill>
              </a:defRPr>
            </a:pPr>
            <a:r>
              <a:t>1. Fix Clothing Sizing: </a:t>
            </a:r>
            <a:r>
              <a:rPr b="0">
                <a:solidFill>
                  <a:srgbClr val="94A3B8"/>
                </a:solidFill>
              </a:rPr>
              <a:t>Implement 3D size charts, height/weight fit recommendations, and customer fit reviews to cut apparel returns by 40%.</a:t>
            </a:r>
          </a:p>
          <a:p>
            <a:pPr>
              <a:spcAft>
                <a:spcPts val="500"/>
              </a:spcAft>
              <a:defRPr sz="1150" b="1">
                <a:solidFill>
                  <a:srgbClr val="F8FAFC"/>
                </a:solidFill>
              </a:defRPr>
            </a:pPr>
            <a:r>
              <a:t>2. Shift Away from COD: </a:t>
            </a:r>
            <a:r>
              <a:rPr b="0">
                <a:solidFill>
                  <a:srgbClr val="94A3B8"/>
                </a:solidFill>
              </a:rPr>
              <a:t>Offer 2% instant discounts for UPI payments, and require WhatsApp OTP verification before dispatching COD parcels.</a:t>
            </a:r>
          </a:p>
          <a:p>
            <a:pPr>
              <a:spcAft>
                <a:spcPts val="500"/>
              </a:spcAft>
              <a:defRPr sz="1150" b="1">
                <a:solidFill>
                  <a:srgbClr val="F8FAFC"/>
                </a:solidFill>
              </a:defRPr>
            </a:pPr>
            <a:r>
              <a:t>3. Protect Fragile Products: </a:t>
            </a:r>
            <a:r>
              <a:rPr b="0">
                <a:solidFill>
                  <a:srgbClr val="94A3B8"/>
                </a:solidFill>
              </a:rPr>
              <a:t>Upgrade protective packaging for monitors and desks, and fast-track courier delivery under 4 days.</a:t>
            </a:r>
          </a:p>
          <a:p>
            <a:pPr>
              <a:spcAft>
                <a:spcPts val="500"/>
              </a:spcAft>
              <a:defRPr sz="1150" b="1">
                <a:solidFill>
                  <a:srgbClr val="F8FAFC"/>
                </a:solidFill>
              </a:defRPr>
            </a:pPr>
            <a:r>
              <a:t>4. Monitor Serial Returners: </a:t>
            </a:r>
            <a:r>
              <a:rPr b="0">
                <a:solidFill>
                  <a:srgbClr val="94A3B8"/>
                </a:solidFill>
              </a:rPr>
              <a:t>Charge a small restocking fee for accounts with return rates over 50% to prevent return abuse.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496793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art_roi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754880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5779008"/>
            <a:ext cx="10728655" cy="7315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797296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🗣️ Presenter Script: </a:t>
            </a:r>
            <a:r>
              <a:rPr sz="1100" b="0">
                <a:solidFill>
                  <a:srgbClr val="F8FAFC"/>
                </a:solidFill>
              </a:rPr>
              <a:t>"To conclude: by improving sizing guides, encouraging UPI payments, protecting fragile packages, and monitoring serial returners, the company can cut returns by 5% and save 25 lakh rupees every year. Thank you!"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