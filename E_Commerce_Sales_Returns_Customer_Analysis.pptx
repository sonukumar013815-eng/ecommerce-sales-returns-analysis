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645920"/>
            <a:ext cx="853409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6366F1"/>
                </a:solidFill>
              </a:defRPr>
            </a:pPr>
            <a:r>
              <a:t>KAGGLE E-COMMERCE BENCHMARK ANALYSIS • EXECUTIVE DECK</a:t>
            </a:r>
          </a:p>
          <a:p>
            <a:pPr>
              <a:spcAft>
                <a:spcPts val="1600"/>
              </a:spcAft>
              <a:defRPr sz="3600" b="1">
                <a:solidFill>
                  <a:srgbClr val="F8FAFC"/>
                </a:solidFill>
              </a:defRPr>
            </a:pPr>
            <a:r>
              <a:t>E-Commerce Sales, Returns &amp;</a:t>
            </a:r>
            <a:br/>
            <a:r>
              <a:t>Customer Behaviour Analysis</a:t>
            </a:r>
          </a:p>
          <a:p>
            <a:pPr>
              <a:spcAft>
                <a:spcPts val="2400"/>
              </a:spcAft>
              <a:defRPr sz="1500">
                <a:solidFill>
                  <a:srgbClr val="94A3B8"/>
                </a:solidFill>
              </a:defRPr>
            </a:pPr>
            <a:r>
              <a:t>Root-Cause Return Diagnostics, Customer RFM Segmentation, Net Realization &amp; Growth Strategy</a:t>
            </a:r>
          </a:p>
          <a:p>
            <a:pPr>
              <a:defRPr sz="1200" b="1">
                <a:solidFill>
                  <a:srgbClr val="10B981"/>
                </a:solidFill>
              </a:defRPr>
            </a:pPr>
            <a:r>
              <a:t>Prepared for Executive Leadership, Merchandising, Supply Chain &amp; Analytics Teams • 10-Slide Brief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PROJECT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Problem Statement, Context &amp; Business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5780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92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6366F1"/>
                </a:solidFill>
              </a:defRPr>
            </a:pPr>
            <a:r>
              <a:t>The Real-World Scenario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An e-commerce enterprise handles thousands of transactions across multiple product categories. While top-line sales grow, product returns cause severe revenue leakage, inventory holding costs, and customer churn.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45920"/>
            <a:ext cx="525780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4892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EF4444"/>
                </a:solidFill>
              </a:defRPr>
            </a:pPr>
            <a:r>
              <a:t>Why The Problem Matters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Gross sales figures mask profitability. A 22.7% return rate erodes over 22% of revenue. Understanding return patterns across products, customers, and payment methods reveals vital margin differences.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69080"/>
            <a:ext cx="525780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251960"/>
            <a:ext cx="4892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6B6D4"/>
                </a:solidFill>
              </a:defRPr>
            </a:pPr>
            <a:r>
              <a:t>Target Stakeholders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Built for E-Commerce Analysts, Sales &amp; Merchandising Managers, Customer Retention Teams, and Business Decision-Makers to formulate data-backed operational interventions.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4069080"/>
            <a:ext cx="525780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4251960"/>
            <a:ext cx="4892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B981"/>
                </a:solidFill>
              </a:defRPr>
            </a:pPr>
            <a:r>
              <a:t>Core Deliverable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An end-to-end data analytics pipeline, dynamic interactive dashboard, automated anomaly detector, and actionable strategic roadmap supported by empirical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ENGINEERING &amp;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Dataset Architecture &amp; Data Quality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6032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828800"/>
            <a:ext cx="223113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8FAFC"/>
                </a:solidFill>
              </a:defRPr>
            </a:pPr>
            <a:r>
              <a:t>1. Data Structure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5,000 orders across 811 customers with 31 relational attributes covering order dates, demographics, SKUs, pricing, payments, and returns.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645920"/>
            <a:ext cx="256032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21024" y="1828800"/>
            <a:ext cx="223113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8FAFC"/>
                </a:solidFill>
              </a:defRPr>
            </a:pPr>
            <a:r>
              <a:t>2. Validation &amp; Quality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Parsed and validated timestamps (Order/Return dates), enforced numeric bounds (Quantity &gt;= 1, Price &gt;= 0), and removed duplicate transactions.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645920"/>
            <a:ext cx="256032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45936" y="1828800"/>
            <a:ext cx="223113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8FAFC"/>
                </a:solidFill>
              </a:defRPr>
            </a:pPr>
            <a:r>
              <a:t>3. Handling Missingness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Zero-loss imputation: non-returned records assigned 'Not Applicable', categorical fields standardized, text casing aligned.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1645920"/>
            <a:ext cx="256032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70848" y="1828800"/>
            <a:ext cx="223113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8FAFC"/>
                </a:solidFill>
              </a:defRPr>
            </a:pPr>
            <a:r>
              <a:t>4. Derived Measures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Calculated Net Realized Sales, Refund Loss, Revenue Realization %, Order Return %, Customer Return Frequency, and RFM scores.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HIGH-LEVEL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Executive Commercial Review &amp; Core Financial KPIs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6032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4A3B8"/>
                </a:solidFill>
              </a:defRPr>
            </a:pPr>
            <a:r>
              <a:t>GROSS INVOICED SALES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Rs. 4.96 Cr</a:t>
            </a:r>
          </a:p>
          <a:p>
            <a:pPr>
              <a:defRPr sz="1000">
                <a:solidFill>
                  <a:srgbClr val="6366F1"/>
                </a:solidFill>
              </a:defRPr>
            </a:pPr>
            <a:r>
              <a:t>5,000 Orders Processed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645920"/>
            <a:ext cx="256032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93592" y="173736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4A3B8"/>
                </a:solidFill>
              </a:defRPr>
            </a:pPr>
            <a:r>
              <a:t>NET REALIZED SALES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Rs. 3.85 Cr</a:t>
            </a:r>
          </a:p>
          <a:p>
            <a:pPr>
              <a:defRPr sz="1000">
                <a:solidFill>
                  <a:srgbClr val="10B981"/>
                </a:solidFill>
              </a:defRPr>
            </a:pPr>
            <a:r>
              <a:t>77.61% Revenue Realization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645920"/>
            <a:ext cx="256032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18504" y="173736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4A3B8"/>
                </a:solidFill>
              </a:defRPr>
            </a:pPr>
            <a:r>
              <a:t>ORDER RETURN RATE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22.70%</a:t>
            </a:r>
          </a:p>
          <a:p>
            <a:pPr>
              <a:defRPr sz="1000">
                <a:solidFill>
                  <a:srgbClr val="EF4444"/>
                </a:solidFill>
              </a:defRPr>
            </a:pPr>
            <a:r>
              <a:t>1,135 Returned Orders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1645920"/>
            <a:ext cx="256032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43416" y="173736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4A3B8"/>
                </a:solidFill>
              </a:defRPr>
            </a:pPr>
            <a:r>
              <a:t>REFUND REVENUE LOSS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Rs. 1.11 Cr</a:t>
            </a:r>
          </a:p>
          <a:p>
            <a:pPr>
              <a:defRPr sz="1000">
                <a:solidFill>
                  <a:srgbClr val="F59E0B"/>
                </a:solidFill>
              </a:defRPr>
            </a:pPr>
            <a:r>
              <a:t>22.39% Direct Margin Erosion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566160"/>
            <a:ext cx="10728655" cy="2651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749039"/>
            <a:ext cx="10149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Key Financial Highlights &amp; Realization Analysis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Top-Line Strength vs. Bottom-Line Leakage: The platform achieved robust gross turnover of Rs. 4.96 Cr; however, Rs. 1.11 Cr was refunded, representing substantial operational cost and tied-up working capital.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Average Order Value (AOV): Gross AOV stands at Rs. 9,928 across 7,459 total units sold. Net realized AOV remains consistent at Rs. 9,968, indicating returns affect high- and low-value transactions alike.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Realized Net Profit: Estimated net profit reached Rs. 1.02 Cr (26.5% margin), reflecting sound unit economics dampened primarily by reverse-logistics overhead.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SALES TRAJECTORY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Sales Velocity &amp; Regional Revenue Distribution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5780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92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6B6D4"/>
                </a:solidFill>
              </a:defRPr>
            </a:pPr>
            <a:r>
              <a:t>Monthly Sales &amp; Realization Dynamics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Steady Monthly Baseline: Averaged Rs. 33 Lakhs in gross sales monthly, demonstrating resilient market demand.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Q4 Holiday Surge (Oct-Dec): Seasonal spike with sales exceeding Rs. 38 Lakhs monthly, driven by festival promotions and consumer gifting.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Post-Holiday Return Lag: January-February reflected a sharp uptick in return volume (reaching 24.5%), trailing the Q4 order influx.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Revenue Retention Stability: Net revenue realization hovered reliably between 75% and 80% across all 15 analyzed months.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5780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892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B981"/>
                </a:solidFill>
              </a:defRPr>
            </a:pPr>
            <a:r>
              <a:t>Geographic Market Performance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•  West Zone (Mumbai, Pune, Ahmedabad)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   Rs. 1.35 Cr Gross | 21.8% Return Rate — Largest revenue contributor, high tech &amp; lifestyle penetration.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•  North Zone (Delhi, Jaipur, Lucknow)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   Rs. 1.28 Cr Gross | 23.4% Return Rate — High COD utilization, strong volume in winter clothing.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•  South Zone (Bengaluru, Chennai, Hyderabad)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   Rs. 1.24 Cr Gross | 21.2% Return Rate — Highest prepaid adoption, lowest return friction.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•  East Zone (Kolkata, Patna, Bhubaneswar)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   Rs. 1.09 Cr Gross | 24.6% Return Rate — Longer transit times correlating with higher customer return initiation.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CUSTOMER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Customer Purchasing Behaviour &amp; RFM Segmentation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6032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4A3B8"/>
                </a:solidFill>
              </a:defRPr>
            </a:pPr>
            <a:r>
              <a:t>ACTIVE CUSTOMERS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811</a:t>
            </a:r>
          </a:p>
          <a:p>
            <a:pPr>
              <a:defRPr sz="900">
                <a:solidFill>
                  <a:srgbClr val="6366F1"/>
                </a:solidFill>
              </a:defRPr>
            </a:pPr>
            <a:r>
              <a:t>Total Unique Buyer Base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645920"/>
            <a:ext cx="256032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93592" y="169164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4A3B8"/>
                </a:solidFill>
              </a:defRPr>
            </a:pPr>
            <a:r>
              <a:t>REPEAT PURCHASE RATE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84.0%</a:t>
            </a:r>
          </a:p>
          <a:p>
            <a:pPr>
              <a:defRPr sz="900">
                <a:solidFill>
                  <a:srgbClr val="10B981"/>
                </a:solidFill>
              </a:defRPr>
            </a:pPr>
            <a:r>
              <a:t>Strong Loyalty Foundation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645920"/>
            <a:ext cx="256032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18504" y="169164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4A3B8"/>
                </a:solidFill>
              </a:defRPr>
            </a:pPr>
            <a:r>
              <a:t>ORDERS PER CUSTOMER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6.17</a:t>
            </a:r>
          </a:p>
          <a:p>
            <a:pPr>
              <a:defRPr sz="900">
                <a:solidFill>
                  <a:srgbClr val="06B6D4"/>
                </a:solidFill>
              </a:defRPr>
            </a:pPr>
            <a:r>
              <a:t>High Platform Engagement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1645920"/>
            <a:ext cx="256032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43416" y="169164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4A3B8"/>
                </a:solidFill>
              </a:defRPr>
            </a:pPr>
            <a:r>
              <a:t>SERIAL RETURNERS FLAGGED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53</a:t>
            </a:r>
          </a:p>
          <a:p>
            <a:pPr>
              <a:defRPr sz="900">
                <a:solidFill>
                  <a:srgbClr val="EF4444"/>
                </a:solidFill>
              </a:defRPr>
            </a:pPr>
            <a:r>
              <a:t>&gt;=3 Orders &amp; &gt;=50% Returns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291840"/>
            <a:ext cx="10728655" cy="2926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429000"/>
            <a:ext cx="103327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8FAFC"/>
                </a:solidFill>
              </a:defRPr>
            </a:pPr>
            <a:r>
              <a:t>RFM Segmentation &amp; The Serial Returner Anomaly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Champions &amp; VIPs (~25% of buyers): Generate 38% of net revenue with an average spend of Rs. 72,000 and an exemplary low return rate of 14.2%.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Loyal &amp; Potential Loyalists (~45% of buyers): Reliable reorder cadence across furniture and electronics; responsive to seasonal discounts with moderate return rate (~20%).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Serial Returners Alert (53 Customer Accounts): Disproportionately high-frequency returners accountable for Rs. 17.4 Lakh in gross refunds. Approximately 6.5% of accounts generate ~16% of all return volume.</a:t>
            </a:r>
          </a:p>
          <a:p>
            <a:pPr>
              <a:spcAft>
                <a:spcPts val="500"/>
              </a:spcAft>
              <a:defRPr sz="1200">
                <a:solidFill>
                  <a:srgbClr val="94A3B8"/>
                </a:solidFill>
              </a:defRPr>
            </a:pPr>
            <a:r>
              <a:t>•  Actionable Strategic Policy: Implement progressive restocking fees, soft-gating on COD orders, or dedicated customer concierge support for high-return profiles.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CATEGORY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Product &amp; Department Performance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80467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19072"/>
            <a:ext cx="10332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ELECTRONICS  |  Gross: Rs. 3.19 Cr  •  Net: Rs. 2.51 Cr  •  Refunds: Rs. 67.5 L  •  Return Rate: 18.9%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Diagnostic: Anchor Category; high ticket value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10728655" cy="80467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33472"/>
            <a:ext cx="10332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HOME &amp; FURNITURE  |  Gross: Rs. 1.10 Cr  •  Net: Rs. 85.8 L  •  Refunds: Rs. 24.3 L  •  Return Rate: 21.0%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Diagnostic: Bulky shipments; transit damage risk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474720"/>
            <a:ext cx="10728655" cy="80467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547872"/>
            <a:ext cx="10332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CLOTHING &amp; APPAREL  |  Gross: Rs. 36.3 L  •  Net: Rs. 22.5 L  •  Refunds: Rs. 13.8 L  •  Return Rate: 34.5%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Diagnostic: CRITICAL RISK; severe sizing return rate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89120"/>
            <a:ext cx="10728655" cy="80467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462272"/>
            <a:ext cx="10332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SPORTS &amp; FITNESS  |  Gross: Rs. 20.5 L  •  Net: Rs. 16.0 L  •  Refunds: Rs. 4.4 L  •  Return Rate: 19.8%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Diagnostic: Steady performance, minimal wear returns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303520"/>
            <a:ext cx="10728655" cy="80467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376672"/>
            <a:ext cx="10332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BEAUTY &amp; PERSONAL CARE  |  Gross: Rs. 10.8 L  •  Net: Rs. 9.7 L  •  Refunds: Rs. 1.1 L  •  Return Rate: 11.9%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Diagnostic: Best-in-class retention due to hygiene policies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577840"/>
            <a:ext cx="10728655" cy="685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623560"/>
            <a:ext cx="10332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F4444"/>
                </a:solidFill>
              </a:defRPr>
            </a:pPr>
            <a:r>
              <a:t>Key Insight: Clothing represents only 7.3% of gross turnover but accounts for over 40% of all return volume (34.5% return rate).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REVERSE LOGISTICS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Return Behaviour &amp; Root Cause Deep-Dive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05740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83080"/>
            <a:ext cx="1828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8FAFC"/>
                </a:solidFill>
              </a:defRPr>
            </a:pPr>
            <a:r>
              <a:t>Size / Fit Issue</a:t>
            </a:r>
          </a:p>
          <a:p>
            <a:pPr>
              <a:defRPr sz="2400" b="1">
                <a:solidFill>
                  <a:srgbClr val="EF4444"/>
                </a:solidFill>
              </a:defRPr>
            </a:pPr>
            <a:r>
              <a:t>28.3%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321 Orders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Primary apparel driver. High disparity between customer expectations and actual fit.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7791" y="1645920"/>
            <a:ext cx="205740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19" y="1783080"/>
            <a:ext cx="1828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8FAFC"/>
                </a:solidFill>
              </a:defRPr>
            </a:pPr>
            <a:r>
              <a:t>Defective / Damaged</a:t>
            </a:r>
          </a:p>
          <a:p>
            <a:pPr>
              <a:defRPr sz="2400" b="1">
                <a:solidFill>
                  <a:srgbClr val="F59E0B"/>
                </a:solidFill>
              </a:defRPr>
            </a:pPr>
            <a:r>
              <a:t>22.0%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250 Orders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Prominent in Electronics &amp; Furniture. Reflects packaging and courier transit strain.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84064" y="1645920"/>
            <a:ext cx="205740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93792" y="1783080"/>
            <a:ext cx="1828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8FAFC"/>
                </a:solidFill>
              </a:defRPr>
            </a:pPr>
            <a:r>
              <a:t>Not as Described</a:t>
            </a:r>
          </a:p>
          <a:p>
            <a:pPr>
              <a:defRPr sz="2400" b="1">
                <a:solidFill>
                  <a:srgbClr val="06B6D4"/>
                </a:solidFill>
              </a:defRPr>
            </a:pPr>
            <a:r>
              <a:t>18.1%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205 Orders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Color inaccuracies, missing specification clarity on product listing pages.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0336" y="1645920"/>
            <a:ext cx="205740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70064" y="1783080"/>
            <a:ext cx="1828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8FAFC"/>
                </a:solidFill>
              </a:defRPr>
            </a:pPr>
            <a:r>
              <a:t>Changed Mind</a:t>
            </a:r>
          </a:p>
          <a:p>
            <a:pPr>
              <a:defRPr sz="2400" b="1">
                <a:solidFill>
                  <a:srgbClr val="94A3B8"/>
                </a:solidFill>
              </a:defRPr>
            </a:pPr>
            <a:r>
              <a:t>15.4%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175 Orders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Impulse buying fueled by steep discounts (&gt;20%) with zero buyer friction.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36608" y="1645920"/>
            <a:ext cx="205740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46336" y="1783080"/>
            <a:ext cx="1828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8FAFC"/>
                </a:solidFill>
              </a:defRPr>
            </a:pPr>
            <a:r>
              <a:t>Late Delivery / Other</a:t>
            </a:r>
          </a:p>
          <a:p>
            <a:pPr>
              <a:defRPr sz="2400" b="1">
                <a:solidFill>
                  <a:srgbClr val="475569"/>
                </a:solidFill>
              </a:defRPr>
            </a:pPr>
            <a:r>
              <a:t>16.2%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184 Orders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Shipments taking &gt;5 days experience 2.2x higher cancellation &amp; return rates.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RISK CORRELATIONS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Transaction Risk: Payment Methods &amp; Shipping Speed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5780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92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EF4444"/>
                </a:solidFill>
              </a:defRPr>
            </a:pPr>
            <a:r>
              <a:t>Payment Method Risk Comparison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•  Cash on Delivery (COD) — 31.8% Return Rate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   Zero financial commitment at checkout results in casual ordering and doorstep refusal.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•  Credit / Debit Cards — 20.4% Return Rate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   Prepaid commitment significantly reduces frivolous rejections.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•  UPI / Digital Wallets — 19.6% Return Rate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   Fastest growing, lowest return rate among all major payment modes.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•  Key Gap Analysis — +10.9% Risk Premium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   Direct return risk premium incurred on COD transactions compared to prepaid payment modes.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5780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892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Shipping Velocity &amp; Discount Impact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•  Same-Day / Next-Day Delivery — 15.2% Return Rate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   High purchase intent; immediate gratification minimizes buyer remorse.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•  Standard Ground (4-7 Days) — 25.8% Return Rate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   Delivery delays directly correlate with increased return propensity.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•  Steep Discount Tiers (&gt;20%) — 26.4% Return Rate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   Deep discounts attract price-sensitive, low-intent buyers prone to return.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•  Average Days to Return — 8.0 Days Mean Duration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   Most returns initiated within 4-10 days of physical delivery.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EXECUTIVE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Strategic Roadmap &amp; Operational Interventions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74720" cy="3840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783080"/>
            <a:ext cx="3145536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366F1"/>
                </a:solidFill>
              </a:defRPr>
            </a:pPr>
            <a:r>
              <a:t>1. Merchandising &amp; Sizing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Implement standardized 3D visual sizing guides for Apparel &amp; Footwear.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Display customer fit ratings ('Runs True to Size / Runs Small') on PDPs.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Enrich high-return electronics listings with unboxing video demonstrations.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645920"/>
            <a:ext cx="3474720" cy="3840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35424" y="1783080"/>
            <a:ext cx="3145536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2. Payment &amp; Checkout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Incentivize UPI/Prepaid transactions with 2-3% instant cashback.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Implement mandatory WhatsApp/SMS OTP confirmation for COD orders &gt;Rs. 2,000.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Restrict COD access for customer profiles with proven return rates &gt;50%.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0144" y="1645920"/>
            <a:ext cx="3474720" cy="3840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74736" y="1783080"/>
            <a:ext cx="3145536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3. Logistics &amp; Operations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Reinforce transit packaging on fragile furniture and monitor displays.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Fast-track deliveries to stay under the 4-day threshold to cut buyer remorse.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Establish dedicated reverse-logistics QA to recover 15% in restocking efficiency.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623560"/>
            <a:ext cx="10728655" cy="731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66928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TARGET BUSINESS IMPACT: Achieving a 5.0% reduction in platform return rate (from 22.7% to 17.7%) recovers approximately Rs. 25 Lakhs in retained margin annually.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